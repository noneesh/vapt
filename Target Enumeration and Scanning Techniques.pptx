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125" y="1907678"/>
            <a:ext cx="10953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 SemiBold"/>
              </a:rPr>
              <a:t>PENETRATION TESTING ARCHITECTURE &amp; ENUMERATION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31528"/>
            <a:ext cx="11501437" cy="1213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b="0" sz="4050" i="0" u="none">
                <a:solidFill>
                  <a:srgbClr val="F8FAFC"/>
                </a:solidFill>
                <a:latin typeface="Poppins SemiBold"/>
              </a:rPr>
              <a:t>Target Enumeration &amp;</a:t>
            </a:r>
            <a:r>
              <a:t>
</a:t>
            </a:r>
            <a:r>
              <a:rPr b="0" sz="4050" i="0" u="none">
                <a:solidFill>
                  <a:srgbClr val="F8FAFC"/>
                </a:solidFill>
                <a:latin typeface="Poppins SemiBold"/>
              </a:rPr>
              <a:t> Scanning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616821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A comprehensive analysis of TCP bounce proxying, active heuristic fingerprinting, zero-packet passive analysis, and structured reporting schemas.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607421"/>
            <a:ext cx="287655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975" y="4607421"/>
            <a:ext cx="230505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4712196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900" y="4712196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96170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50631" y="2924770"/>
            <a:ext cx="5890736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450" i="0" u="none">
                <a:solidFill>
                  <a:srgbClr val="F8FAFC"/>
                </a:solidFill>
                <a:latin typeface="Poppins SemiBold"/>
              </a:rPr>
              <a:t>Reconnaissance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0" y="3677245"/>
            <a:ext cx="6477000" cy="56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b="0" sz="1425" i="0" u="none">
                <a:solidFill>
                  <a:srgbClr val="94A3B8"/>
                </a:solidFill>
                <a:latin typeface="Lato"/>
              </a:rPr>
              <a:t>Exploring the mechanics of bounce scans, service detection databases, OS classification models, and multi-format scanner data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246959"/>
            <a:ext cx="530542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76437"/>
            <a:ext cx="530542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1975485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1976437"/>
            <a:ext cx="5114925" cy="4723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Target enumeration maps discovered responsive hosts to active software daemons and exact kernel releases.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543115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544067"/>
            <a:ext cx="5114925" cy="4723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Fingerprinting provides the intelligence required to locate corresponding exploits within CVE databases.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110745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111698"/>
            <a:ext cx="5114925" cy="4723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Stealth mechanics obscure scanner provenance and prevent early detection by enterprise intrusion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678376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679328"/>
            <a:ext cx="5114925" cy="47238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Systematic logging enables machine-readable data ingest into automated vulnerability assessment frameworks.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985962"/>
            <a:ext cx="5286375" cy="3600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01.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Reconnaissance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414688"/>
            <a:ext cx="10953750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2605087"/>
            <a:ext cx="105727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1F5F9"/>
                </a:solidFill>
                <a:latin typeface="Lato"/>
              </a:rPr>
              <a:t>RFC 959 Proxy Feature: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Early FTP specifications allowed clients to establish proxy connections instructing a server to transfer files directly to third-party endpoints.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229867"/>
            <a:ext cx="10572750" cy="245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1F5F9"/>
                </a:solidFill>
                <a:latin typeface="Lato"/>
              </a:rPr>
              <a:t>Origin Obfuscation: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The attacker issues the FTP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PORT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command pointing to the target host and destination port, masking the actual scanning 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627983"/>
            <a:ext cx="10572750" cy="245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1F5F9"/>
                </a:solidFill>
                <a:latin typeface="Lato"/>
              </a:rPr>
              <a:t>State Feedback Evaluation: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If the target port is open, the FTP daemon responds with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226 Transfer complete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; closed ports return transmission failure 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026098"/>
            <a:ext cx="105727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1F5F9"/>
                </a:solidFill>
                <a:latin typeface="Lato"/>
              </a:rPr>
              <a:t>Modern Remediation: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Modern FTP servers disable proxy bounce capabilities by blocking non-standard PORT declarations to mitigate misuse.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628900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25368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365179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049910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02.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TCP FTP Bounce 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05087"/>
            <a:ext cx="5305425" cy="23620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605087"/>
            <a:ext cx="5305425" cy="23620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881312"/>
            <a:ext cx="499062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38BDF8"/>
                </a:solidFill>
                <a:latin typeface="Poppins SemiBold"/>
              </a:rPr>
              <a:t>Probe Methodology (-sV)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271837"/>
            <a:ext cx="4752975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After discovering open ports, Nmap transmits specialized application-layer probes defined in the 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nmap-service-probes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868042"/>
            <a:ext cx="47529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Responses are inspected for banners, application handshakes, and distinctive error string patterns to accurately pinpoint daemon names and versions.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2881312"/>
            <a:ext cx="499062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38BDF8"/>
                </a:solidFill>
                <a:latin typeface="Poppins SemiBold"/>
              </a:rPr>
              <a:t>Vulnerability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271837"/>
            <a:ext cx="47529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The integrated database holds signatures for over 2,200 well-known service protocols across common TCP/UDP endpoints.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858517"/>
            <a:ext cx="47529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Identifying the exact version (e.g., Apache 2.2.14 vs. 2.4.49) enables direct cross-referencing against public exploit repositories.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03.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Service Version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4291905"/>
            <a:ext cx="5305425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3186112"/>
            <a:ext cx="53054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38BDF8"/>
                </a:solidFill>
                <a:latin typeface="Poppins"/>
              </a:rPr>
              <a:t>2,600+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176712"/>
            <a:ext cx="5305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Lato SemiBold"/>
              </a:rPr>
              <a:t>Known OS Signatures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728019"/>
            <a:ext cx="557069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38BDF8"/>
                </a:solidFill>
                <a:latin typeface="Poppins SemiBold"/>
              </a:rPr>
              <a:t>Heuristic Stack Analysis (-O)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3118544"/>
            <a:ext cx="53054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Nmap actively transmits crafted TCP, UDP, and ICMP probes to open and closed ports on the target machine.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3705225"/>
            <a:ext cx="53054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It examines Initial Sequence Number (ISN) generation, TCP options order, IP ID sampling, and window sizes against internal reference templates.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04.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Active OS Fingerprinting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09850"/>
            <a:ext cx="5305425" cy="23525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609850"/>
            <a:ext cx="5305425" cy="23525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886075"/>
            <a:ext cx="499062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38BDF8"/>
                </a:solidFill>
                <a:latin typeface="Poppins SemiBold"/>
              </a:rPr>
              <a:t>Zero-Packet Emission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276600"/>
            <a:ext cx="475297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Unlike active scanners, </a:t>
            </a:r>
            <a:r>
              <a:rPr b="1" sz="1200" i="0" u="none">
                <a:solidFill>
                  <a:srgbClr val="94A3B8"/>
                </a:solidFill>
                <a:latin typeface="Lato"/>
              </a:rPr>
              <a:t>p0f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transmits zero interrogation packets onto the wire, rendering it completely invisible to target intrusion detection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099470"/>
            <a:ext cx="47529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It captures and evaluates legitimate packet streams, inspecting default Time to Live (TTL), window size, MTU, and DF (Don't Fragment) flags.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2886075"/>
            <a:ext cx="499062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38BDF8"/>
                </a:solidFill>
                <a:latin typeface="Poppins SemiBold"/>
              </a:rPr>
              <a:t>Operational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276600"/>
            <a:ext cx="47529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Covert Reconnaissance: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Assessing locked-down perimeter hosts where active scans trigger automatic firewall blocks.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863280"/>
            <a:ext cx="47529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94A3B8"/>
                </a:solidFill>
                <a:latin typeface="Lato"/>
              </a:rPr>
              <a:t>Forensics &amp; Monitoring:</a:t>
            </a:r>
            <a:r>
              <a:rPr b="0" sz="1200" i="0" u="none">
                <a:solidFill>
                  <a:srgbClr val="94A3B8"/>
                </a:solidFill>
                <a:latin typeface="Lato"/>
              </a:rPr>
              <a:t> Uncovering rogue workstations, non-compliant operating systems, and unauthorized network routing devices.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05.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Passive OS Fingerprinting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517278"/>
          <a:ext cx="10953748" cy="2537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37196"/>
                <a:gridCol w="4372867"/>
                <a:gridCol w="4243685"/>
              </a:tblGrid>
              <a:tr h="507563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Evaluation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Active Nmap Scanning (-O)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Passive Fingerprinting (p0f)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</a:tr>
              <a:tr h="50756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Lato"/>
                        </a:rPr>
                        <a:t>Traffic Generation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High: Sends multiple crafted TCP/UDP packets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Zero: Passively monitors existing wire traffic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756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Lato"/>
                        </a:rPr>
                        <a:t>IDS / IPS Noise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Loud: Rapidly detected and logged by security sensors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Undetectable: Generates zero target-bound packets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</a:tr>
              <a:tr h="50756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Lato"/>
                        </a:rPr>
                        <a:t>Host Prerequisites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Requires at least one open and one closed 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Requires active network traffic from the target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756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94A3B8"/>
                          </a:solidFill>
                          <a:latin typeface="Lato"/>
                        </a:rPr>
                        <a:t>Classification Granularity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Highly granular release and patch-level matches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94A3B8"/>
                          </a:solidFill>
                          <a:latin typeface="Lato"/>
                        </a:rPr>
                        <a:t>Broader OS family and kernel release estimates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19125" y="3000672"/>
            <a:ext cx="2337196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56321" y="3000672"/>
            <a:ext cx="4372867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29189" y="3000672"/>
            <a:ext cx="4243685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513087"/>
            <a:ext cx="2337196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56321" y="3513087"/>
            <a:ext cx="4372867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29189" y="3513087"/>
            <a:ext cx="4243685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" y="4025503"/>
            <a:ext cx="2337196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56321" y="4025503"/>
            <a:ext cx="4372867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29189" y="4025503"/>
            <a:ext cx="4243685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" y="4537918"/>
            <a:ext cx="2337196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6321" y="4537918"/>
            <a:ext cx="4372867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29189" y="4537918"/>
            <a:ext cx="4243685" cy="9525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06.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Detection Method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90775"/>
            <a:ext cx="3511599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274" y="2390775"/>
            <a:ext cx="3511599" cy="2790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424" y="2390775"/>
            <a:ext cx="3511599" cy="2790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371975"/>
            <a:ext cx="3073449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49" y="4371975"/>
            <a:ext cx="3073449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499" y="4371975"/>
            <a:ext cx="3073449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3190875"/>
            <a:ext cx="32271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Poppins SemiBold"/>
              </a:rPr>
              <a:t>Normal Format (-oN)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62350"/>
            <a:ext cx="30734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Human-readable plaintext output that mirrors terminal display. Best for immediate command-line verification and manual analyst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190875"/>
            <a:ext cx="32271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Poppins SemiBold"/>
              </a:rPr>
              <a:t>Grepable Format (-oG)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3562350"/>
            <a:ext cx="30734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Restructures scan results into a concise one-host-per-line format. Specifically optimized for quick command-line filtering using grep, awk, and 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99" y="3190875"/>
            <a:ext cx="32271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F1F5F9"/>
                </a:solidFill>
                <a:latin typeface="Poppins SemiBold"/>
              </a:rPr>
              <a:t>XML Format (-oX)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562350"/>
            <a:ext cx="30734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Structured schema format designed for programmatic ingestion into Metasploit, Armitage, Dradis, and custom reporting pipelines.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695575"/>
            <a:ext cx="247650" cy="3238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349" y="2695575"/>
            <a:ext cx="361950" cy="323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0499" y="2695575"/>
            <a:ext cx="409575" cy="323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07.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Nmap Output Formats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257300"/>
            <a:ext cx="10953750" cy="5057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4512022"/>
            <a:ext cx="109537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1" u="none">
                <a:solidFill>
                  <a:srgbClr val="94A3B8"/>
                </a:solidFill>
                <a:latin typeface="Lato"/>
              </a:rPr>
              <a:t>Direct active handshakes generate heavy logging traces on modern firewalls, while proxy bounce scans and passive fingerprinting dramatically decrease detection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08.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Scan Stealth &amp; Noise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3767137"/>
            <a:ext cx="10953750" cy="38100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6140" y="3995737"/>
            <a:ext cx="264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1. Host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310062"/>
            <a:ext cx="251936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ICMP echo and TCP ping sweeps map live targets across the subnet.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7504" y="2789039"/>
            <a:ext cx="264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2. Port Sweeps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0488" y="3103364"/>
            <a:ext cx="251936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SYN and stealth scan modes determine open, closed, or filtered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8867" y="3995737"/>
            <a:ext cx="264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3. OS &amp; Versions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1851" y="4310062"/>
            <a:ext cx="251936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Active Nmap probes and passive p0f sniffing isolate daemon versions.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0230" y="2789039"/>
            <a:ext cx="264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oppins SemiBold"/>
              </a:rPr>
              <a:t>4. Data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3214" y="3103364"/>
            <a:ext cx="251936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Grepable and XML records export data directly into exploit frameworks.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93081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04444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807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7171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38BDF8"/>
                </a:solidFill>
                <a:latin typeface="Poppins SemiBold"/>
              </a:rPr>
              <a:t>09.</a:t>
            </a:r>
            <a:r>
              <a:rPr b="0" sz="2550" i="0" u="none">
                <a:solidFill>
                  <a:srgbClr val="F8FAFC"/>
                </a:solidFill>
                <a:latin typeface="Poppins SemiBold"/>
              </a:rPr>
              <a:t> Reconnaissance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5281" y="542925"/>
            <a:ext cx="11501437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350" i="0" u="none">
                <a:solidFill>
                  <a:srgbClr val="F8FAFC"/>
                </a:solidFill>
                <a:latin typeface="Poppins SemiBold"/>
              </a:rPr>
              <a:t>Questions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504950"/>
            <a:ext cx="10953750" cy="28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b="0" sz="1425" i="0" u="none">
                <a:solidFill>
                  <a:srgbClr val="94A3B8"/>
                </a:solidFill>
                <a:latin typeface="Lato"/>
              </a:rPr>
              <a:t>Target Enumeration and Scanning Techniques (Baloch, pp. 109–113)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052042"/>
            <a:ext cx="10953750" cy="19050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8BDF8"/>
                </a:solidFill>
                <a:latin typeface="JetBrains Mono"/>
              </a:rPr>
              <a:t>Rafay Baloch • Ethical Hacking &amp; Penetration Testing Guide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2071092"/>
            <a:ext cx="1619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54806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14500" y="3548360"/>
            <a:ext cx="985837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https://www.perle.com/images/diagrams/terminal-server-diagram-md.gif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787824"/>
            <a:ext cx="985837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www.perle.com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542925"/>
            <a:ext cx="1150143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